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1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ADA75A-79A2-92F3-5F37-D4894D590080}" v="234" dt="2026-09-03T20:52:11.1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" name="Google Shape;4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217e4248f1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217e4248f1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1217e4248f1_1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64E7564-01F0-662B-B612-747B29C64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217e4248f1_1_12:notes">
            <a:extLst>
              <a:ext uri="{FF2B5EF4-FFF2-40B4-BE49-F238E27FC236}">
                <a16:creationId xmlns:a16="http://schemas.microsoft.com/office/drawing/2014/main" id="{C873F735-C03F-BEF2-621C-1156889D87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217e4248f1_1_12:notes">
            <a:extLst>
              <a:ext uri="{FF2B5EF4-FFF2-40B4-BE49-F238E27FC236}">
                <a16:creationId xmlns:a16="http://schemas.microsoft.com/office/drawing/2014/main" id="{E0D292DB-EA63-2881-5FA4-A31A188D3D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1217e4248f1_1_12:notes">
            <a:extLst>
              <a:ext uri="{FF2B5EF4-FFF2-40B4-BE49-F238E27FC236}">
                <a16:creationId xmlns:a16="http://schemas.microsoft.com/office/drawing/2014/main" id="{C0A27FD2-DDDD-C8D3-64DF-BC93416470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0240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217e4248f1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g1217e4248f1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60" name="Google Shape;60;g1217e4248f1_1_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CUSTOM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-102451" y="6724868"/>
            <a:ext cx="12294600" cy="17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" name="Google Shape;17;p2"/>
          <p:cNvGrpSpPr/>
          <p:nvPr/>
        </p:nvGrpSpPr>
        <p:grpSpPr>
          <a:xfrm>
            <a:off x="67179" y="6104954"/>
            <a:ext cx="2011184" cy="545156"/>
            <a:chOff x="381354" y="5100802"/>
            <a:chExt cx="2520280" cy="683153"/>
          </a:xfrm>
        </p:grpSpPr>
        <p:pic>
          <p:nvPicPr>
            <p:cNvPr id="18" name="Google Shape;18;p2"/>
            <p:cNvPicPr preferRelativeResize="0"/>
            <p:nvPr/>
          </p:nvPicPr>
          <p:blipFill rotWithShape="1">
            <a:blip r:embed="rId2">
              <a:alphaModFix/>
            </a:blip>
            <a:srcRect l="23236" t="41093"/>
            <a:stretch/>
          </p:blipFill>
          <p:spPr>
            <a:xfrm>
              <a:off x="1000871" y="5195940"/>
              <a:ext cx="1900763" cy="5049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2"/>
            <p:cNvPicPr preferRelativeResize="0"/>
            <p:nvPr/>
          </p:nvPicPr>
          <p:blipFill rotWithShape="1">
            <a:blip r:embed="rId2">
              <a:alphaModFix/>
            </a:blip>
            <a:srcRect r="76764"/>
            <a:stretch/>
          </p:blipFill>
          <p:spPr>
            <a:xfrm>
              <a:off x="381354" y="5100802"/>
              <a:ext cx="458564" cy="68315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20;p2"/>
          <p:cNvSpPr txBox="1">
            <a:spLocks noGrp="1"/>
          </p:cNvSpPr>
          <p:nvPr>
            <p:ph type="title"/>
          </p:nvPr>
        </p:nvSpPr>
        <p:spPr>
          <a:xfrm>
            <a:off x="1303500" y="1965525"/>
            <a:ext cx="9585000" cy="1675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-2701" y="0"/>
            <a:ext cx="12197400" cy="620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">
  <p:cSld name="CUSTOM_1_2_1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/>
        </p:nvSpPr>
        <p:spPr>
          <a:xfrm>
            <a:off x="3204897" y="6292966"/>
            <a:ext cx="57822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595959"/>
                </a:solidFill>
              </a:rPr>
              <a:t>Título do Trabalho (editar slide mestre)</a:t>
            </a:r>
            <a:endParaRPr sz="1200">
              <a:solidFill>
                <a:srgbClr val="595959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pt-BR" sz="1050" b="1">
                <a:solidFill>
                  <a:srgbClr val="595959"/>
                </a:solidFill>
              </a:rPr>
              <a:t>Alunos </a:t>
            </a:r>
            <a:r>
              <a:rPr lang="pt-BR" sz="1050">
                <a:solidFill>
                  <a:srgbClr val="595959"/>
                </a:solidFill>
              </a:rPr>
              <a:t>- Mês 20XX</a:t>
            </a:r>
            <a:endParaRPr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200">
              <a:solidFill>
                <a:srgbClr val="595959"/>
              </a:solidFill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10848528" y="6237312"/>
            <a:ext cx="1368300" cy="443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fld id="{00000000-1234-1234-1234-123412341234}" type="slidenum">
              <a:rPr lang="pt-BR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3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-102451" y="6724868"/>
            <a:ext cx="12294600" cy="17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" name="Google Shape;26;p3"/>
          <p:cNvGrpSpPr/>
          <p:nvPr/>
        </p:nvGrpSpPr>
        <p:grpSpPr>
          <a:xfrm>
            <a:off x="143106" y="6325241"/>
            <a:ext cx="1379853" cy="374026"/>
            <a:chOff x="381354" y="5100802"/>
            <a:chExt cx="2520280" cy="683153"/>
          </a:xfrm>
        </p:grpSpPr>
        <p:pic>
          <p:nvPicPr>
            <p:cNvPr id="27" name="Google Shape;27;p3"/>
            <p:cNvPicPr preferRelativeResize="0"/>
            <p:nvPr/>
          </p:nvPicPr>
          <p:blipFill rotWithShape="1">
            <a:blip r:embed="rId2">
              <a:alphaModFix/>
            </a:blip>
            <a:srcRect l="23236" t="41093"/>
            <a:stretch/>
          </p:blipFill>
          <p:spPr>
            <a:xfrm>
              <a:off x="1000871" y="5195940"/>
              <a:ext cx="1900763" cy="5049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8;p3"/>
            <p:cNvPicPr preferRelativeResize="0"/>
            <p:nvPr/>
          </p:nvPicPr>
          <p:blipFill rotWithShape="1">
            <a:blip r:embed="rId2">
              <a:alphaModFix/>
            </a:blip>
            <a:srcRect r="76764"/>
            <a:stretch/>
          </p:blipFill>
          <p:spPr>
            <a:xfrm>
              <a:off x="381354" y="5100802"/>
              <a:ext cx="458564" cy="68315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/>
          <p:nvPr/>
        </p:nvSpPr>
        <p:spPr>
          <a:xfrm>
            <a:off x="-2701" y="0"/>
            <a:ext cx="12197400" cy="620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449000" y="1241850"/>
            <a:ext cx="8232300" cy="457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000"/>
              <a:buChar char="●"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rtl="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SzPts val="1800"/>
              <a:buChar char="○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○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marL="3200400" lvl="6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marL="3657600" lvl="7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○"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marL="4114800" lvl="8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title"/>
          </p:nvPr>
        </p:nvSpPr>
        <p:spPr>
          <a:xfrm>
            <a:off x="449000" y="767100"/>
            <a:ext cx="7590300" cy="37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ferences">
  <p:cSld name="CUSTOM_1_2_3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287300" y="788075"/>
            <a:ext cx="11042700" cy="5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/>
              <a:t>Referências</a:t>
            </a:r>
            <a:endParaRPr sz="9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-102451" y="6724868"/>
            <a:ext cx="12294600" cy="17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-2701" y="0"/>
            <a:ext cx="12197400" cy="620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449000" y="1241850"/>
            <a:ext cx="8232300" cy="457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000"/>
              <a:buChar char="●"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rtl="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SzPts val="1800"/>
              <a:buChar char="○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○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marL="3200400" lvl="6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marL="3657600" lvl="7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○"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marL="4114800" lvl="8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4"/>
          <p:cNvSpPr txBox="1"/>
          <p:nvPr/>
        </p:nvSpPr>
        <p:spPr>
          <a:xfrm>
            <a:off x="3204897" y="6292966"/>
            <a:ext cx="57822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595959"/>
                </a:solidFill>
              </a:rPr>
              <a:t>Título do Trabalho (editar slide mestre)</a:t>
            </a:r>
            <a:endParaRPr sz="1200">
              <a:solidFill>
                <a:srgbClr val="595959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pt-BR" sz="1050" b="1">
                <a:solidFill>
                  <a:srgbClr val="595959"/>
                </a:solidFill>
              </a:rPr>
              <a:t>Alunos </a:t>
            </a:r>
            <a:r>
              <a:rPr lang="pt-BR" sz="1050">
                <a:solidFill>
                  <a:srgbClr val="595959"/>
                </a:solidFill>
              </a:rPr>
              <a:t>- Mês 20XX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200">
              <a:solidFill>
                <a:srgbClr val="595959"/>
              </a:solidFill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10848528" y="6237312"/>
            <a:ext cx="1368300" cy="443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fld id="{00000000-1234-1234-1234-123412341234}" type="slidenum">
              <a:rPr lang="pt-BR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3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" name="Google Shape;39;p4"/>
          <p:cNvGrpSpPr/>
          <p:nvPr/>
        </p:nvGrpSpPr>
        <p:grpSpPr>
          <a:xfrm>
            <a:off x="143106" y="6325241"/>
            <a:ext cx="1379853" cy="374026"/>
            <a:chOff x="381354" y="5100802"/>
            <a:chExt cx="2520280" cy="683153"/>
          </a:xfrm>
        </p:grpSpPr>
        <p:pic>
          <p:nvPicPr>
            <p:cNvPr id="40" name="Google Shape;40;p4"/>
            <p:cNvPicPr preferRelativeResize="0"/>
            <p:nvPr/>
          </p:nvPicPr>
          <p:blipFill rotWithShape="1">
            <a:blip r:embed="rId2">
              <a:alphaModFix/>
            </a:blip>
            <a:srcRect l="23236" t="41093"/>
            <a:stretch/>
          </p:blipFill>
          <p:spPr>
            <a:xfrm>
              <a:off x="1000871" y="5195940"/>
              <a:ext cx="1900763" cy="5049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4"/>
            <p:cNvPicPr preferRelativeResize="0"/>
            <p:nvPr/>
          </p:nvPicPr>
          <p:blipFill rotWithShape="1">
            <a:blip r:embed="rId2">
              <a:alphaModFix/>
            </a:blip>
            <a:srcRect r="76764"/>
            <a:stretch/>
          </p:blipFill>
          <p:spPr>
            <a:xfrm>
              <a:off x="381354" y="5100802"/>
              <a:ext cx="458564" cy="68315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 txBox="1">
            <a:spLocks noGrp="1"/>
          </p:cNvSpPr>
          <p:nvPr>
            <p:ph type="title"/>
          </p:nvPr>
        </p:nvSpPr>
        <p:spPr>
          <a:xfrm>
            <a:off x="1154817" y="1222111"/>
            <a:ext cx="9585000" cy="245608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pt-BR" sz="3600" b="0" dirty="0"/>
              <a:t>Classificação de Risco de Alagamento na Bacia do Guaíba (Porto Alegre - RS) a partir de Dados Públicos</a:t>
            </a:r>
            <a:endParaRPr lang="pt-BR" sz="2800"/>
          </a:p>
        </p:txBody>
      </p:sp>
      <p:sp>
        <p:nvSpPr>
          <p:cNvPr id="48" name="Google Shape;48;p5"/>
          <p:cNvSpPr txBox="1"/>
          <p:nvPr/>
        </p:nvSpPr>
        <p:spPr>
          <a:xfrm>
            <a:off x="1831338" y="4655634"/>
            <a:ext cx="8531802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pt-BR" sz="2200" b="1" dirty="0">
                <a:solidFill>
                  <a:schemeClr val="dk1"/>
                </a:solidFill>
              </a:rPr>
              <a:t>Prática em Pesquisa 2026/2</a:t>
            </a:r>
            <a:endParaRPr sz="2200" b="1" dirty="0">
              <a:solidFill>
                <a:schemeClr val="dk1"/>
              </a:solidFill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pt-BR" sz="2200" b="1" dirty="0">
                <a:solidFill>
                  <a:schemeClr val="dk1"/>
                </a:solidFill>
              </a:rPr>
              <a:t>Alunos</a:t>
            </a:r>
            <a:r>
              <a:rPr lang="pt-BR" sz="2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pt-BR" sz="2200" dirty="0">
                <a:solidFill>
                  <a:schemeClr val="dk1"/>
                </a:solidFill>
              </a:rPr>
              <a:t>João Pedro Chirico, Gustavo Da Rosa De Oliveira, Vitor Lucas Dos Santos Reis, Vitor Samuel </a:t>
            </a:r>
            <a:r>
              <a:rPr lang="pt-BR" sz="2200" dirty="0" err="1">
                <a:solidFill>
                  <a:schemeClr val="dk1"/>
                </a:solidFill>
              </a:rPr>
              <a:t>Parnoff</a:t>
            </a:r>
            <a:r>
              <a:rPr lang="pt-BR" sz="2200" dirty="0">
                <a:solidFill>
                  <a:schemeClr val="dk1"/>
                </a:solidFill>
              </a:rPr>
              <a:t> Barcellos </a:t>
            </a:r>
            <a:endParaRPr lang="pt-BR" sz="220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pt-BR" sz="2200" b="1" dirty="0">
                <a:solidFill>
                  <a:schemeClr val="dk1"/>
                </a:solidFill>
              </a:rPr>
              <a:t>Orientador</a:t>
            </a:r>
            <a:r>
              <a:rPr lang="pt-BR" sz="2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pt-BR" sz="2200" dirty="0">
                <a:solidFill>
                  <a:schemeClr val="dk1"/>
                </a:solidFill>
              </a:rPr>
              <a:t>Time </a:t>
            </a:r>
            <a:r>
              <a:rPr lang="pt-BR" sz="2200" dirty="0" err="1">
                <a:solidFill>
                  <a:schemeClr val="dk1"/>
                </a:solidFill>
              </a:rPr>
              <a:t>Kunumi</a:t>
            </a:r>
            <a:endParaRPr lang="pt-BR" sz="2200" dirty="0">
              <a:solidFill>
                <a:schemeClr val="dk1"/>
              </a:solidFill>
            </a:endParaRPr>
          </a:p>
          <a:p>
            <a:pPr algn="ctr">
              <a:buSzPts val="2200"/>
            </a:pPr>
            <a:r>
              <a:rPr lang="pt-BR" b="1" dirty="0">
                <a:solidFill>
                  <a:schemeClr val="dk1"/>
                </a:solidFill>
              </a:rPr>
              <a:t>09/2029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9" name="Google Shape;49;p5"/>
          <p:cNvCxnSpPr/>
          <p:nvPr/>
        </p:nvCxnSpPr>
        <p:spPr>
          <a:xfrm>
            <a:off x="2927648" y="4454624"/>
            <a:ext cx="6048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>
            <a:spLocks noGrp="1"/>
          </p:cNvSpPr>
          <p:nvPr>
            <p:ph type="body" idx="1"/>
          </p:nvPr>
        </p:nvSpPr>
        <p:spPr>
          <a:xfrm>
            <a:off x="449000" y="1232557"/>
            <a:ext cx="11401104" cy="209984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pt-BR" sz="1600" dirty="0"/>
              <a:t>Descrição do objetivo do Trabalho;</a:t>
            </a:r>
          </a:p>
          <a:p>
            <a:pPr lvl="1">
              <a:lnSpc>
                <a:spcPct val="114999"/>
              </a:lnSpc>
              <a:buSzPts val="2000"/>
            </a:pPr>
            <a:r>
              <a:rPr lang="pt-BR" sz="1400" dirty="0"/>
              <a:t>Desenvolver e avaliar modelos de aprendizado de máquina supervisionado para mapear a área alagada pela enchente de maio de 2024 na Bacia do Guaíba, a partir de variáveis ambientais e dados públicos de satélite, com base no framework proposto por Alcântara et al. (2025) para a Bacia do Taquari-Antas.</a:t>
            </a:r>
            <a:br>
              <a:rPr lang="pt-BR" sz="1400" dirty="0"/>
            </a:br>
            <a:endParaRPr sz="1400" dirty="0"/>
          </a:p>
        </p:txBody>
      </p:sp>
      <p:sp>
        <p:nvSpPr>
          <p:cNvPr id="56" name="Google Shape;56;p6"/>
          <p:cNvSpPr txBox="1">
            <a:spLocks noGrp="1"/>
          </p:cNvSpPr>
          <p:nvPr>
            <p:ph type="title"/>
          </p:nvPr>
        </p:nvSpPr>
        <p:spPr>
          <a:xfrm>
            <a:off x="449000" y="767100"/>
            <a:ext cx="10194900" cy="37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pt-BR" dirty="0"/>
              <a:t>Descrição inicial e andamento do trabalho.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7AA9140-EEFE-D8F1-A38A-EBA50D7FA71E}"/>
              </a:ext>
            </a:extLst>
          </p:cNvPr>
          <p:cNvSpPr txBox="1"/>
          <p:nvPr/>
        </p:nvSpPr>
        <p:spPr>
          <a:xfrm>
            <a:off x="519771" y="2619669"/>
            <a:ext cx="11561956" cy="33275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285750">
              <a:lnSpc>
                <a:spcPct val="114999"/>
              </a:lnSpc>
              <a:buFont typeface="Arial,Sans-Serif"/>
              <a:buChar char="●"/>
            </a:pPr>
            <a:r>
              <a:rPr lang="pt-BR" sz="1600" dirty="0"/>
              <a:t>Andamento do trabalho até o momento:</a:t>
            </a:r>
            <a:endParaRPr lang="en-US" sz="1600" dirty="0"/>
          </a:p>
          <a:p>
            <a:pPr marL="914400" lvl="1" indent="-285750">
              <a:lnSpc>
                <a:spcPct val="114999"/>
              </a:lnSpc>
              <a:buFont typeface="Arial,Sans-Serif"/>
              <a:buChar char="○"/>
            </a:pPr>
            <a:r>
              <a:rPr lang="pt-BR" dirty="0"/>
              <a:t>Reunião inicial com o orientador para alinhamento do escopo e organização de agenda com checkpoints periódicos.</a:t>
            </a:r>
            <a:endParaRPr lang="pt-BR" sz="1100" dirty="0"/>
          </a:p>
          <a:p>
            <a:pPr marL="914400" lvl="1" indent="-285750">
              <a:lnSpc>
                <a:spcPct val="114999"/>
              </a:lnSpc>
              <a:buFont typeface="Arial,Sans-Serif"/>
              <a:buChar char="○"/>
            </a:pPr>
            <a:r>
              <a:rPr lang="pt-BR" dirty="0"/>
              <a:t>Definição do artigo de referência (Alcântara et al., 2025), que será usado como base metodológica a ser reproduzida e depois adaptada para a enchente de 2024.</a:t>
            </a:r>
            <a:endParaRPr lang="pt-BR" sz="1100" dirty="0"/>
          </a:p>
          <a:p>
            <a:pPr marL="914400" lvl="1" indent="-285750">
              <a:lnSpc>
                <a:spcPct val="114999"/>
              </a:lnSpc>
              <a:buFont typeface="Arial,Sans-Serif"/>
              <a:buChar char="○"/>
            </a:pPr>
            <a:r>
              <a:rPr lang="pt-BR" dirty="0"/>
              <a:t>Início do levantamento de requisitos:</a:t>
            </a:r>
            <a:endParaRPr lang="pt-BR" sz="1100" dirty="0"/>
          </a:p>
          <a:p>
            <a:pPr marL="1371600" lvl="2" indent="-285750">
              <a:lnSpc>
                <a:spcPct val="114999"/>
              </a:lnSpc>
              <a:buFont typeface="Arial,Sans-Serif"/>
              <a:buChar char="■"/>
            </a:pPr>
            <a:r>
              <a:rPr lang="pt-BR" dirty="0"/>
              <a:t>Identificação do repositório público do estudo de referência no GitHub.</a:t>
            </a:r>
            <a:endParaRPr lang="pt-BR" sz="1100" dirty="0"/>
          </a:p>
          <a:p>
            <a:pPr marL="1371600" lvl="2" indent="-285750">
              <a:lnSpc>
                <a:spcPct val="114999"/>
              </a:lnSpc>
              <a:buFont typeface="Arial,Sans-Serif"/>
              <a:buChar char="■"/>
            </a:pPr>
            <a:r>
              <a:rPr lang="pt-BR" dirty="0"/>
              <a:t>Busca pela base de dados original do artigo — ainda não localizada publicamente; contato com os autores está sendo avaliado para solicitação de acesso.</a:t>
            </a:r>
          </a:p>
          <a:p>
            <a:pPr marL="1371600" lvl="2" indent="-285750">
              <a:lnSpc>
                <a:spcPct val="114999"/>
              </a:lnSpc>
              <a:buFont typeface="Arial,Sans-Serif"/>
              <a:buChar char="■"/>
            </a:pPr>
            <a:r>
              <a:rPr lang="pt-BR" dirty="0"/>
              <a:t>Mapeamento de fontes alternativas de dados públicos (</a:t>
            </a:r>
            <a:r>
              <a:rPr lang="pt-BR" dirty="0" err="1"/>
              <a:t>MapBiomas</a:t>
            </a:r>
            <a:r>
              <a:rPr lang="pt-BR" dirty="0"/>
              <a:t> RS </a:t>
            </a:r>
            <a:r>
              <a:rPr lang="pt-BR" dirty="0" err="1"/>
              <a:t>Climate</a:t>
            </a:r>
            <a:r>
              <a:rPr lang="pt-BR" dirty="0"/>
              <a:t> Emergency Toolkit, INMET/BDMEP, RS </a:t>
            </a:r>
            <a:r>
              <a:rPr lang="pt-BR" dirty="0" err="1"/>
              <a:t>Climate</a:t>
            </a:r>
            <a:r>
              <a:rPr lang="pt-BR" dirty="0"/>
              <a:t> </a:t>
            </a:r>
            <a:r>
              <a:rPr lang="pt-BR" dirty="0" err="1"/>
              <a:t>Lab</a:t>
            </a:r>
            <a:r>
              <a:rPr lang="pt-BR" dirty="0"/>
              <a:t>).</a:t>
            </a:r>
          </a:p>
          <a:p>
            <a:pPr marL="914400" lvl="1" indent="-285750">
              <a:lnSpc>
                <a:spcPct val="114999"/>
              </a:lnSpc>
              <a:buFont typeface="Arial,Sans-Serif"/>
              <a:buChar char="○"/>
            </a:pPr>
            <a:r>
              <a:rPr lang="pt-BR" dirty="0"/>
              <a:t>Discussão inicial sobre o impacto social do trabalho: o projeto busca apoiar a identificação de áreas de risco de alagamento na região, contribuindo para ações de prevenção e resposta a eventos climáticos extremos, cada vez mais recorrentes no RS.</a:t>
            </a:r>
            <a:br>
              <a:rPr lang="pt-BR" dirty="0"/>
            </a:b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>
          <a:extLst>
            <a:ext uri="{FF2B5EF4-FFF2-40B4-BE49-F238E27FC236}">
              <a16:creationId xmlns:a16="http://schemas.microsoft.com/office/drawing/2014/main" id="{B5ECFCC4-54A0-668E-C7B4-18F1E14D2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>
            <a:extLst>
              <a:ext uri="{FF2B5EF4-FFF2-40B4-BE49-F238E27FC236}">
                <a16:creationId xmlns:a16="http://schemas.microsoft.com/office/drawing/2014/main" id="{85B26D88-9B52-8782-C70C-D1A5F73891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9000" y="1241850"/>
            <a:ext cx="10862129" cy="457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pt-BR" dirty="0"/>
              <a:t>Quais são os próximos passos:</a:t>
            </a:r>
          </a:p>
          <a:p>
            <a:pPr lvl="1">
              <a:lnSpc>
                <a:spcPct val="114999"/>
              </a:lnSpc>
              <a:spcBef>
                <a:spcPts val="0"/>
              </a:spcBef>
            </a:pPr>
            <a:r>
              <a:rPr lang="pt-BR" dirty="0"/>
              <a:t>Leitura aprofundada do artigo de referência e dos trabalhos relacionados (</a:t>
            </a:r>
            <a:r>
              <a:rPr lang="pt-BR" dirty="0" err="1"/>
              <a:t>Satolo</a:t>
            </a:r>
            <a:r>
              <a:rPr lang="pt-BR" dirty="0"/>
              <a:t> et al., 2024; </a:t>
            </a:r>
            <a:r>
              <a:rPr lang="pt-BR" dirty="0" err="1"/>
              <a:t>Bengua</a:t>
            </a:r>
            <a:r>
              <a:rPr lang="pt-BR" dirty="0"/>
              <a:t> &amp; Oliveira, 2026).</a:t>
            </a:r>
            <a:endParaRPr dirty="0"/>
          </a:p>
          <a:p>
            <a:pPr lvl="1">
              <a:lnSpc>
                <a:spcPct val="114999"/>
              </a:lnSpc>
              <a:spcBef>
                <a:spcPts val="0"/>
              </a:spcBef>
            </a:pPr>
            <a:r>
              <a:rPr lang="pt-BR" dirty="0"/>
              <a:t>Estudo do código-fonte do repositório do artigo de referência para entender a metodologia aplicada.</a:t>
            </a:r>
            <a:endParaRPr dirty="0"/>
          </a:p>
          <a:p>
            <a:pPr lvl="1">
              <a:lnSpc>
                <a:spcPct val="114999"/>
              </a:lnSpc>
              <a:spcBef>
                <a:spcPts val="0"/>
              </a:spcBef>
            </a:pPr>
            <a:r>
              <a:rPr lang="pt-BR" dirty="0"/>
              <a:t>Reprodução do estudo original (Taquari-Antas, 2023) como validação da abordagem antes de adaptar para a Bacia do Guaíba (2024).</a:t>
            </a:r>
            <a:endParaRPr dirty="0"/>
          </a:p>
          <a:p>
            <a:pPr lvl="1">
              <a:lnSpc>
                <a:spcPct val="114999"/>
              </a:lnSpc>
              <a:spcBef>
                <a:spcPts val="0"/>
              </a:spcBef>
            </a:pPr>
            <a:r>
              <a:rPr lang="pt-BR" dirty="0"/>
              <a:t>Avaliação da possibilidade de ampliar a base histórica de dados para aumentar a consistência do modelo.</a:t>
            </a:r>
            <a:endParaRPr dirty="0"/>
          </a:p>
          <a:p>
            <a:pPr lvl="1">
              <a:lnSpc>
                <a:spcPct val="114999"/>
              </a:lnSpc>
              <a:spcBef>
                <a:spcPts val="0"/>
              </a:spcBef>
            </a:pPr>
            <a:r>
              <a:rPr lang="pt-BR" dirty="0"/>
              <a:t>Redução do recorte geoespacial do estudo (ex.: foco em uma região específica de Porto Alegre), considerando as limitações de capacidade computacional e período curto para desenvolvimento do projeto.</a:t>
            </a:r>
          </a:p>
          <a:p>
            <a:pPr lvl="1">
              <a:lnSpc>
                <a:spcPct val="114999"/>
              </a:lnSpc>
              <a:spcBef>
                <a:spcPts val="0"/>
              </a:spcBef>
            </a:pPr>
            <a:r>
              <a:rPr lang="pt-BR" dirty="0"/>
              <a:t>Coleta e pré-processamento das variáveis ambientais identificadas como mais relevantes no artigo original (chuva extrema de curto prazo, elevação do terreno, entre outras).</a:t>
            </a:r>
          </a:p>
        </p:txBody>
      </p:sp>
      <p:sp>
        <p:nvSpPr>
          <p:cNvPr id="56" name="Google Shape;56;p6">
            <a:extLst>
              <a:ext uri="{FF2B5EF4-FFF2-40B4-BE49-F238E27FC236}">
                <a16:creationId xmlns:a16="http://schemas.microsoft.com/office/drawing/2014/main" id="{2EE9127E-E940-216E-1CC4-0CEBDFFD37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000" y="767100"/>
            <a:ext cx="10194900" cy="37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pt-BR" dirty="0"/>
              <a:t>Continuidade do projeto.</a:t>
            </a:r>
          </a:p>
        </p:txBody>
      </p:sp>
    </p:spTree>
    <p:extLst>
      <p:ext uri="{BB962C8B-B14F-4D97-AF65-F5344CB8AC3E}">
        <p14:creationId xmlns:p14="http://schemas.microsoft.com/office/powerpoint/2010/main" val="3002742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/>
          <p:nvPr/>
        </p:nvSpPr>
        <p:spPr>
          <a:xfrm>
            <a:off x="-1" y="0"/>
            <a:ext cx="12197400" cy="620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1"/>
          </p:nvPr>
        </p:nvSpPr>
        <p:spPr>
          <a:xfrm>
            <a:off x="579098" y="1436996"/>
            <a:ext cx="10871421" cy="457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14999"/>
              </a:lnSpc>
              <a:buAutoNum type="arabicPeriod"/>
            </a:pPr>
            <a:r>
              <a:rPr lang="pt-BR" dirty="0"/>
              <a:t>Alcântara, E., Baião, C., Guimarães, Y., Mantovani, J. (2025). Machine learning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climate</a:t>
            </a:r>
            <a:r>
              <a:rPr lang="pt-BR" dirty="0"/>
              <a:t> </a:t>
            </a:r>
            <a:r>
              <a:rPr lang="pt-BR" dirty="0" err="1"/>
              <a:t>scenario</a:t>
            </a:r>
            <a:r>
              <a:rPr lang="pt-BR" dirty="0"/>
              <a:t> </a:t>
            </a:r>
            <a:r>
              <a:rPr lang="pt-BR" dirty="0" err="1"/>
              <a:t>integration</a:t>
            </a:r>
            <a:r>
              <a:rPr lang="pt-BR" dirty="0"/>
              <a:t> </a:t>
            </a:r>
            <a:r>
              <a:rPr lang="pt-BR" dirty="0" err="1"/>
              <a:t>reveals</a:t>
            </a:r>
            <a:r>
              <a:rPr lang="pt-BR" dirty="0"/>
              <a:t> </a:t>
            </a:r>
            <a:r>
              <a:rPr lang="pt-BR" dirty="0" err="1"/>
              <a:t>controls</a:t>
            </a:r>
            <a:r>
              <a:rPr lang="pt-BR" dirty="0"/>
              <a:t> </a:t>
            </a:r>
            <a:r>
              <a:rPr lang="pt-BR" dirty="0" err="1"/>
              <a:t>on</a:t>
            </a:r>
            <a:r>
              <a:rPr lang="pt-BR" dirty="0"/>
              <a:t> </a:t>
            </a:r>
            <a:r>
              <a:rPr lang="pt-BR" dirty="0" err="1"/>
              <a:t>flood</a:t>
            </a:r>
            <a:r>
              <a:rPr lang="pt-BR" dirty="0"/>
              <a:t> </a:t>
            </a:r>
            <a:r>
              <a:rPr lang="pt-BR" dirty="0" err="1"/>
              <a:t>susceptibility</a:t>
            </a:r>
            <a:r>
              <a:rPr lang="pt-BR" dirty="0"/>
              <a:t> in </a:t>
            </a:r>
            <a:r>
              <a:rPr lang="pt-BR" dirty="0" err="1"/>
              <a:t>the</a:t>
            </a:r>
            <a:r>
              <a:rPr lang="pt-BR" dirty="0"/>
              <a:t> Taquari-Antas </a:t>
            </a:r>
            <a:r>
              <a:rPr lang="pt-BR" dirty="0" err="1"/>
              <a:t>Basin</a:t>
            </a:r>
            <a:r>
              <a:rPr lang="pt-BR" dirty="0"/>
              <a:t>, </a:t>
            </a:r>
            <a:r>
              <a:rPr lang="pt-BR" dirty="0" err="1"/>
              <a:t>Brazil</a:t>
            </a:r>
            <a:r>
              <a:rPr lang="pt-BR" dirty="0"/>
              <a:t>. </a:t>
            </a:r>
            <a:r>
              <a:rPr lang="pt-BR" i="1" dirty="0" err="1"/>
              <a:t>Modeling</a:t>
            </a:r>
            <a:r>
              <a:rPr lang="pt-BR" i="1" dirty="0"/>
              <a:t> Earth Systems </a:t>
            </a:r>
            <a:r>
              <a:rPr lang="pt-BR" i="1" dirty="0" err="1"/>
              <a:t>and</a:t>
            </a:r>
            <a:r>
              <a:rPr lang="pt-BR" i="1" dirty="0"/>
              <a:t> </a:t>
            </a:r>
            <a:r>
              <a:rPr lang="pt-BR" i="1" dirty="0" err="1"/>
              <a:t>Environment</a:t>
            </a:r>
            <a:r>
              <a:rPr lang="pt-BR" dirty="0"/>
              <a:t>, 11(6), art. 410. DOI: 10.1007/s40808-025-02585-8</a:t>
            </a:r>
          </a:p>
          <a:p>
            <a:pPr>
              <a:lnSpc>
                <a:spcPct val="114999"/>
              </a:lnSpc>
              <a:buAutoNum type="arabicPeriod"/>
            </a:pPr>
            <a:endParaRPr lang="pt-BR" dirty="0"/>
          </a:p>
          <a:p>
            <a:pPr>
              <a:lnSpc>
                <a:spcPct val="114999"/>
              </a:lnSpc>
              <a:spcBef>
                <a:spcPts val="0"/>
              </a:spcBef>
              <a:buAutoNum type="arabicPeriod"/>
            </a:pPr>
            <a:r>
              <a:rPr lang="pt-BR" dirty="0" err="1"/>
              <a:t>Satolo</a:t>
            </a:r>
            <a:r>
              <a:rPr lang="pt-BR" dirty="0"/>
              <a:t> et al. (2024). </a:t>
            </a:r>
            <a:r>
              <a:rPr lang="pt-BR" dirty="0" err="1"/>
              <a:t>Interpretability</a:t>
            </a:r>
            <a:r>
              <a:rPr lang="pt-BR" dirty="0"/>
              <a:t> </a:t>
            </a:r>
            <a:r>
              <a:rPr lang="pt-BR" dirty="0" err="1"/>
              <a:t>on</a:t>
            </a:r>
            <a:r>
              <a:rPr lang="pt-BR" dirty="0"/>
              <a:t> </a:t>
            </a:r>
            <a:r>
              <a:rPr lang="pt-BR" dirty="0" err="1"/>
              <a:t>agile</a:t>
            </a:r>
            <a:r>
              <a:rPr lang="pt-BR" dirty="0"/>
              <a:t> machine learning models for </a:t>
            </a:r>
            <a:r>
              <a:rPr lang="pt-BR" dirty="0" err="1"/>
              <a:t>hydrological</a:t>
            </a:r>
            <a:r>
              <a:rPr lang="pt-BR" dirty="0"/>
              <a:t> </a:t>
            </a:r>
            <a:r>
              <a:rPr lang="pt-BR" dirty="0" err="1"/>
              <a:t>predictions</a:t>
            </a:r>
            <a:r>
              <a:rPr lang="pt-BR" dirty="0"/>
              <a:t>: A case </a:t>
            </a:r>
            <a:r>
              <a:rPr lang="pt-BR" dirty="0" err="1"/>
              <a:t>study</a:t>
            </a:r>
            <a:r>
              <a:rPr lang="pt-BR" dirty="0"/>
              <a:t> in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mega-disaster</a:t>
            </a:r>
            <a:r>
              <a:rPr lang="pt-BR" dirty="0"/>
              <a:t> in Rio Grande do Sul, </a:t>
            </a:r>
            <a:r>
              <a:rPr lang="pt-BR" dirty="0" err="1"/>
              <a:t>Brazil</a:t>
            </a:r>
            <a:r>
              <a:rPr lang="pt-BR" dirty="0"/>
              <a:t>, in May 4 2024. </a:t>
            </a:r>
            <a:r>
              <a:rPr lang="pt-BR" dirty="0" err="1"/>
              <a:t>Preprint</a:t>
            </a:r>
            <a:r>
              <a:rPr lang="pt-BR" dirty="0"/>
              <a:t>, </a:t>
            </a:r>
            <a:r>
              <a:rPr lang="pt-BR" dirty="0" err="1"/>
              <a:t>EarthArXiv</a:t>
            </a:r>
            <a:r>
              <a:rPr lang="pt-BR" dirty="0"/>
              <a:t>. DOI: 10.31223/X5FQ46</a:t>
            </a:r>
          </a:p>
          <a:p>
            <a:pPr>
              <a:lnSpc>
                <a:spcPct val="114999"/>
              </a:lnSpc>
              <a:spcBef>
                <a:spcPts val="0"/>
              </a:spcBef>
              <a:buAutoNum type="arabicPeriod"/>
            </a:pPr>
            <a:endParaRPr lang="pt-BR" dirty="0"/>
          </a:p>
          <a:p>
            <a:pPr>
              <a:lnSpc>
                <a:spcPct val="114999"/>
              </a:lnSpc>
              <a:spcBef>
                <a:spcPts val="0"/>
              </a:spcBef>
              <a:buAutoNum type="arabicPeriod"/>
            </a:pPr>
            <a:r>
              <a:rPr lang="pt-BR" dirty="0" err="1"/>
              <a:t>Bengua</a:t>
            </a:r>
            <a:r>
              <a:rPr lang="pt-BR" dirty="0"/>
              <a:t>, T. R. B., &amp; de Oliveira, G. G. (2026). </a:t>
            </a:r>
            <a:r>
              <a:rPr lang="pt-BR" dirty="0" err="1"/>
              <a:t>Hazard</a:t>
            </a:r>
            <a:r>
              <a:rPr lang="pt-BR" dirty="0"/>
              <a:t> mapping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hydrological</a:t>
            </a:r>
            <a:r>
              <a:rPr lang="pt-BR" dirty="0"/>
              <a:t> </a:t>
            </a:r>
            <a:r>
              <a:rPr lang="pt-BR" dirty="0" err="1"/>
              <a:t>disasters</a:t>
            </a:r>
            <a:r>
              <a:rPr lang="pt-BR" dirty="0"/>
              <a:t> in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municipality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Porto Alegre/RS. </a:t>
            </a:r>
            <a:r>
              <a:rPr lang="pt-BR" i="1" dirty="0"/>
              <a:t>Natural </a:t>
            </a:r>
            <a:r>
              <a:rPr lang="pt-BR" i="1" dirty="0" err="1"/>
              <a:t>Hazards</a:t>
            </a:r>
            <a:r>
              <a:rPr lang="pt-BR" dirty="0"/>
              <a:t>, 122(8), 363. DOI: 10.1007/s11069-026-08097-7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4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5" baseType="lpstr">
      <vt:lpstr>Tema do Office</vt:lpstr>
      <vt:lpstr>Classificação de Risco de Alagamento na Bacia do Guaíba (Porto Alegre - RS) a partir de Dados Públicos</vt:lpstr>
      <vt:lpstr>Descrição inicial e andamento do trabalho.</vt:lpstr>
      <vt:lpstr>Continuidade do projeto.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60</cp:revision>
  <dcterms:modified xsi:type="dcterms:W3CDTF">2026-09-03T20:52:33Z</dcterms:modified>
</cp:coreProperties>
</file>